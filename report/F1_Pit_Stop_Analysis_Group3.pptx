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 snapToObjects="1">
      <p:cViewPr varScale="1">
        <p:scale>
          <a:sx n="91" d="100"/>
          <a:sy n="91" d="100"/>
        </p:scale>
        <p:origin x="192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c.co.uk/sport/formula1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E10600"/>
                </a:solidFill>
                <a:latin typeface="Arial"/>
              </a:rPr>
              <a:t>MACHINE LEARNING 2  ·  SEATTLE UNIVERSITY  ·  SPRING 2026</a:t>
            </a:r>
            <a:endParaRPr lang="en-US" sz="1300" b="1" dirty="0">
              <a:solidFill>
                <a:srgbClr val="E10600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8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 |   A. </a:t>
            </a:r>
            <a:r>
              <a:rPr lang="en-US" sz="1400">
                <a:solidFill>
                  <a:srgbClr val="8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 Kumaar  ·  Jack Lichwa  ·  Prithika K</a:t>
            </a:r>
            <a:endParaRPr lang="en-US" sz="14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sz="1300" b="1" dirty="0">
              <a:solidFill>
                <a:srgbClr val="E106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6384" y="1965960"/>
            <a:ext cx="104241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dirty="0">
                <a:solidFill>
                  <a:srgbClr val="FFFFFF"/>
                </a:solidFill>
                <a:latin typeface="Arial"/>
              </a:rPr>
              <a:t>Formula 1 Pit Stop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dirty="0">
                <a:solidFill>
                  <a:srgbClr val="FFFFFF"/>
                </a:solidFill>
                <a:latin typeface="Arial"/>
              </a:rPr>
              <a:t>Strategy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241280" cy="686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dirty="0">
                <a:solidFill>
                  <a:srgbClr val="A6A6B4"/>
                </a:solidFill>
                <a:latin typeface="Arial"/>
              </a:rPr>
              <a:t>Predicting race outcomes and clustering driver behavior from 70 years of historical pit-stop data</a:t>
            </a:r>
            <a:endParaRPr lang="en-US" sz="1800" b="0" dirty="0">
              <a:solidFill>
                <a:srgbClr val="A6A6B4"/>
              </a:solidFill>
              <a:latin typeface="Arial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endParaRPr lang="en-US" dirty="0">
              <a:solidFill>
                <a:srgbClr val="A6A6B4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10600"/>
                </a:solidFill>
                <a:latin typeface="Arial"/>
              </a:rPr>
              <a:t>5,970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6A6B4"/>
                </a:solidFill>
                <a:latin typeface="Arial"/>
              </a:rPr>
              <a:t>driver-race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440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10600"/>
                </a:solidFill>
                <a:latin typeface="Arial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9436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6A6B4"/>
                </a:solidFill>
                <a:latin typeface="Arial"/>
              </a:rP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440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1060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9436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6A6B4"/>
                </a:solidFill>
                <a:latin typeface="Arial"/>
              </a:rPr>
              <a:t>ML problem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44068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10600"/>
                </a:solidFill>
                <a:latin typeface="Arial"/>
              </a:rPr>
              <a:t>R² 0.93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59436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6A6B4"/>
                </a:solidFill>
                <a:latin typeface="Arial"/>
              </a:rPr>
              <a:t>pit-duration model</a:t>
            </a:r>
          </a:p>
        </p:txBody>
      </p:sp>
      <p:pic>
        <p:nvPicPr>
          <p:cNvPr id="16" name="Picture 15" descr="F1 - Latest News, Results &amp; Schedule - BBC Sport">
            <a:extLst>
              <a:ext uri="{FF2B5EF4-FFF2-40B4-BE49-F238E27FC236}">
                <a16:creationId xmlns:a16="http://schemas.microsoft.com/office/drawing/2014/main" id="{2C5F84AC-6101-3BD2-C771-46B3A52D4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88994" y="792490"/>
            <a:ext cx="5151902" cy="28979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02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Races are decided by seconds — can data predict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566928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10600"/>
                </a:solidFill>
                <a:latin typeface="Arial"/>
              </a:rPr>
              <a:t>▸ </a:t>
            </a:r>
            <a:r>
              <a:rPr sz="1500" b="1">
                <a:solidFill>
                  <a:srgbClr val="FFFFFF"/>
                </a:solidFill>
                <a:latin typeface="Arial"/>
              </a:rPr>
              <a:t>The pit stop is the battleground.</a:t>
            </a:r>
            <a:r>
              <a:rPr sz="1500" b="0">
                <a:solidFill>
                  <a:srgbClr val="A6A6B4"/>
                </a:solidFill>
                <a:latin typeface="Arial"/>
              </a:rPr>
              <a:t>  Speed, timing, and strategy in a 2-second window decide positions.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10600"/>
                </a:solidFill>
                <a:latin typeface="Arial"/>
              </a:rPr>
              <a:t>▸ </a:t>
            </a:r>
            <a:r>
              <a:rPr sz="1500" b="1">
                <a:solidFill>
                  <a:srgbClr val="FFFFFF"/>
                </a:solidFill>
                <a:latin typeface="Arial"/>
              </a:rPr>
              <a:t>Teams act on incomplete information.</a:t>
            </a:r>
            <a:r>
              <a:rPr sz="1500" b="0">
                <a:solidFill>
                  <a:srgbClr val="A6A6B4"/>
                </a:solidFill>
                <a:latin typeface="Arial"/>
              </a:rPr>
              <a:t>  Weather, accidents, and rival moves all shift the optimal call.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E10600"/>
                </a:solidFill>
                <a:latin typeface="Arial"/>
              </a:rPr>
              <a:t>▸ </a:t>
            </a:r>
            <a:r>
              <a:rPr sz="1500" b="1">
                <a:solidFill>
                  <a:srgbClr val="FFFFFF"/>
                </a:solidFill>
                <a:latin typeface="Arial"/>
              </a:rPr>
              <a:t>Pit data exposes hidden structure.</a:t>
            </a:r>
            <a:r>
              <a:rPr sz="1500" b="0">
                <a:solidFill>
                  <a:srgbClr val="A6A6B4"/>
                </a:solidFill>
                <a:latin typeface="Arial"/>
              </a:rPr>
              <a:t>  Crew discipline and team quality leave a measurable signature.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02920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10600"/>
                </a:solidFill>
                <a:latin typeface="Arial"/>
              </a:rPr>
              <a:t>Central question:  </a:t>
            </a:r>
            <a:r>
              <a:rPr sz="1500" b="1">
                <a:solidFill>
                  <a:srgbClr val="FFFFFF"/>
                </a:solidFill>
                <a:latin typeface="Arial"/>
              </a:rPr>
              <a:t>Can we predict pit-stop behavior and race outcomes from historical race data alone?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96596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0" y="1965960"/>
            <a:ext cx="91440" cy="12344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1671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53288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How long will a pit stop take?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38328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0" y="3383280"/>
            <a:ext cx="91440" cy="1234440"/>
          </a:xfrm>
          <a:prstGeom prst="rect">
            <a:avLst/>
          </a:prstGeom>
          <a:solidFill>
            <a:srgbClr val="19C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35844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9C3B3"/>
                </a:solidFill>
                <a:latin typeface="Arial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95020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Who finishes on the podium?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80060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0" y="4800600"/>
            <a:ext cx="91440" cy="1234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50017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2C14E"/>
                </a:solidFill>
                <a:latin typeface="Arial"/>
              </a:rPr>
              <a:t>DISCOVER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36752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FFFFFF"/>
                </a:solidFill>
                <a:latin typeface="Arial"/>
              </a:rPr>
              <a:t>Do natural driver tiers exist?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03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70 years of Formula 1 race &amp; pit-stop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82296" cy="10515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29384"/>
            <a:ext cx="3063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5,970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59736"/>
            <a:ext cx="3063239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driver-race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78308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783080"/>
            <a:ext cx="82296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929384"/>
            <a:ext cx="3063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59736"/>
            <a:ext cx="3063239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engineered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7" y="178308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3567" y="1783080"/>
            <a:ext cx="82296" cy="105156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29384"/>
            <a:ext cx="3063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918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59736"/>
            <a:ext cx="3063239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podium finishes (15.4%)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154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FEATURE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2044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6850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Race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690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year · round · circuit · country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352044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36850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Circuit traits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0690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altitude · latitude · length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7" y="352044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9" y="36850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Qualifying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0690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grid position · lap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5488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919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Pit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count · min/mean/max duration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0248" y="475488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4919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3035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final position · top-3 (binary)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7" y="475488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599" y="49194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Preprocessing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53035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PCA imputation · one-hot ·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EXPLORATORY DATA ANALYSIS  · 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04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A heavily imbalanced, multi-collinear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83080"/>
            <a:ext cx="6629400" cy="448056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3033083"/>
            <a:ext cx="6336792" cy="1980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1965960"/>
            <a:ext cx="420624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15.4% positive class.</a:t>
            </a:r>
            <a:r>
              <a:rPr sz="1350" b="0">
                <a:solidFill>
                  <a:srgbClr val="A6A6B4"/>
                </a:solidFill>
                <a:latin typeface="Arial"/>
              </a:rPr>
              <a:t>  Only 918 of 5,970 results are podiums — accuracy alone misleads.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Pit duration 20–30s.</a:t>
            </a:r>
            <a:r>
              <a:rPr sz="1350" b="0">
                <a:solidFill>
                  <a:srgbClr val="A6A6B4"/>
                </a:solidFill>
                <a:latin typeface="Arial"/>
              </a:rPr>
              <a:t>  Right-skewed, with a penalty tail beyond 35s.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Correlated predictors.</a:t>
            </a:r>
            <a:r>
              <a:rPr sz="1350" b="0">
                <a:solidFill>
                  <a:srgbClr val="A6A6B4"/>
                </a:solidFill>
                <a:latin typeface="Arial"/>
              </a:rPr>
              <a:t>  Min/mean/max pit duration move together; grid ≈ qualifying.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Independent axes.</a:t>
            </a:r>
            <a:r>
              <a:rPr sz="1350" b="0">
                <a:solidFill>
                  <a:srgbClr val="A6A6B4"/>
                </a:solidFill>
                <a:latin typeface="Arial"/>
              </a:rPr>
              <a:t>  Pit metrics are uncorrelated with position variables.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REGRESSION  ·  PREDICTING PIT DURATION  · 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05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Pit-stop duration is highly predictable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783080"/>
            <a:ext cx="4937760" cy="274320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g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973709"/>
            <a:ext cx="4645152" cy="236194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20840" y="4709160"/>
          <a:ext cx="493776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RMSE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MAE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R²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Gradient Boosting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0.731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0.9335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1.031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0.717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0.9314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Bagging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1.099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0.731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0.9269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1.263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0.9160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178308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929384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0.93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45973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R²  across every ensemble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78308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56432" y="1783080"/>
            <a:ext cx="82296" cy="1371600"/>
          </a:xfrm>
          <a:prstGeom prst="rect">
            <a:avLst/>
          </a:prstGeom>
          <a:solidFill>
            <a:srgbClr val="19C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1929384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&lt;1s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45973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average error (MAE 0.73s)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83280"/>
            <a:ext cx="557784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Crew performance is consistent.</a:t>
            </a:r>
            <a:r>
              <a:rPr sz="1350" b="0">
                <a:solidFill>
                  <a:srgbClr val="A6A6B4"/>
                </a:solidFill>
                <a:latin typeface="Arial"/>
              </a:rPr>
              <a:t>  Error under one second means pit execution is measurable, not random.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Discipline beats circumstance.</a:t>
            </a:r>
            <a:r>
              <a:rPr sz="1350" b="0">
                <a:solidFill>
                  <a:srgbClr val="A6A6B4"/>
                </a:solidFill>
                <a:latin typeface="Arial"/>
              </a:rPr>
              <a:t>  Team standards dominate over race-specific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REGRESSION  ·  WHAT DRIVES PIT DURATION  · 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06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One signal dominates: crew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783080"/>
            <a:ext cx="6629400" cy="448056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686110"/>
            <a:ext cx="6336792" cy="267449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2880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82296" cy="128016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75104"/>
            <a:ext cx="3794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0.90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05456"/>
            <a:ext cx="3794759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importance — minimum pit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37560"/>
            <a:ext cx="420624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Fastest stop predicts the average.</a:t>
            </a:r>
            <a:r>
              <a:rPr sz="1350" b="0">
                <a:solidFill>
                  <a:srgbClr val="A6A6B4"/>
                </a:solidFill>
                <a:latin typeface="Arial"/>
              </a:rPr>
              <a:t>  A crew's best execution nearly determines its mean.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Race context is marginal.</a:t>
            </a:r>
            <a:r>
              <a:rPr sz="1350" b="0">
                <a:solidFill>
                  <a:srgbClr val="A6A6B4"/>
                </a:solidFill>
                <a:latin typeface="Arial"/>
              </a:rPr>
              <a:t>  Circuit, weather, and dynamics add under 2% of variance.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A team property, not a race one.</a:t>
            </a:r>
            <a:r>
              <a:rPr sz="1350" b="0">
                <a:solidFill>
                  <a:srgbClr val="A6A6B4"/>
                </a:solidFill>
                <a:latin typeface="Arial"/>
              </a:rPr>
              <a:t>  Fast pit programs hold their edge across every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CLASSIFICATION  ·  PREDICTING PODIUMS  · 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07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Can we predict the top 3? Prioritize F1, not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64240" cy="228600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f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59" y="1975104"/>
            <a:ext cx="9143777" cy="199339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343400"/>
          <a:ext cx="11064240" cy="197510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F1-Score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Assessment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Linear SVM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0.72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0.63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Best generalization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Logistic Regression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0.72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0.66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Competitive · interpretable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Balanced alternative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0.49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High precision, low recall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RBF SVM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0.57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0.49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Severe overfitting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CLASSIFICATION  ·  GENERALIZATION  · 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08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Why linear wins and the RBF kernel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783080"/>
            <a:ext cx="4800600" cy="365760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f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1940377"/>
            <a:ext cx="4507992" cy="334300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5577840"/>
          <a:ext cx="4800600" cy="120700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Train AUC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Test AUC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Linear SVM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0.94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0.01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Logistic Reg.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0.93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0.02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RBF SVM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0.79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Arial"/>
                        </a:rPr>
                        <a:t>−0.21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1920240"/>
            <a:ext cx="585216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The boundary is linear.</a:t>
            </a:r>
            <a:r>
              <a:rPr sz="1350" b="0">
                <a:solidFill>
                  <a:srgbClr val="A6A6B4"/>
                </a:solidFill>
                <a:latin typeface="Arial"/>
              </a:rPr>
              <a:t>  Grid (0.21) + qualifying (0.21) nearly determine the podium; pit metrics add ~0.05.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RBF memorizes.</a:t>
            </a:r>
            <a:r>
              <a:rPr sz="1350" b="0">
                <a:solidFill>
                  <a:srgbClr val="A6A6B4"/>
                </a:solidFill>
                <a:latin typeface="Arial"/>
              </a:rPr>
              <a:t>  Train AUC 1.00 vs test 0.79 — a 0.21 gap hidden by class imbalance.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High accuracy can mislead.</a:t>
            </a:r>
            <a:r>
              <a:rPr sz="1350" b="0">
                <a:solidFill>
                  <a:srgbClr val="A6A6B4"/>
                </a:solidFill>
                <a:latin typeface="Arial"/>
              </a:rPr>
              <a:t>  86% barely beats the 84.6% 'always predict no' baseline.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Recall over precision.</a:t>
            </a:r>
            <a:r>
              <a:rPr sz="1350" b="0">
                <a:solidFill>
                  <a:srgbClr val="A6A6B4"/>
                </a:solidFill>
                <a:latin typeface="Arial"/>
              </a:rPr>
              <a:t>  Catching 2 of 3 real podium drivers matters most for 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DIMENSIONALITY REDUCTION  ·  PCA  · 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09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Four independent dimensions, no dominant axis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83080"/>
            <a:ext cx="4617720" cy="448056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ca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302407"/>
            <a:ext cx="4325112" cy="344190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603504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Represents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Cumul.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PC1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Pit duration &amp; crew speed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25.2%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25.2%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PC2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Driver pace &amp; grid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17.9%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43.1%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PC3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Circuit characteristics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15.5%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58.6%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PC4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Pit-strategy aggressiveness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14.6%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73.2%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160520"/>
            <a:ext cx="603504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Variance is evenly spread.</a:t>
            </a:r>
            <a:r>
              <a:rPr sz="1350" b="0">
                <a:solidFill>
                  <a:srgbClr val="A6A6B4"/>
                </a:solidFill>
                <a:latin typeface="Arial"/>
              </a:rPr>
              <a:t>  No single 'primary' axis — four genuinely independent factors.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Pit speed ⊥ grid position.</a:t>
            </a:r>
            <a:r>
              <a:rPr sz="1350" b="0">
                <a:solidFill>
                  <a:srgbClr val="A6A6B4"/>
                </a:solidFill>
                <a:latin typeface="Arial"/>
              </a:rPr>
              <a:t>  You cannot infer one from the other; keep both feature types.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Elite drivers cluster tight.</a:t>
            </a:r>
            <a:r>
              <a:rPr sz="1350" b="0">
                <a:solidFill>
                  <a:srgbClr val="A6A6B4"/>
                </a:solidFill>
                <a:latin typeface="Arial"/>
              </a:rPr>
              <a:t>  Low PC1 + low PC2 = fast pits and front grid.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CLUSTERING  ·  CHOOSING K  · 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10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Do natural driver tiers exist? K-Means says five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64240" cy="292608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u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286" y="1975104"/>
            <a:ext cx="7453523" cy="26334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937760"/>
            <a:ext cx="3474720" cy="132588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4937760"/>
            <a:ext cx="82296" cy="132588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5084064"/>
            <a:ext cx="3063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K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5614416"/>
            <a:ext cx="3063239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optimal cluster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4937760"/>
            <a:ext cx="3474720" cy="132588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0248" y="4937760"/>
            <a:ext cx="82296" cy="1325880"/>
          </a:xfrm>
          <a:prstGeom prst="rect">
            <a:avLst/>
          </a:prstGeom>
          <a:solidFill>
            <a:srgbClr val="19C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5084064"/>
            <a:ext cx="3063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0.413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5614416"/>
            <a:ext cx="3063239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peak silhouette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7" y="4937760"/>
            <a:ext cx="3474720" cy="1325880"/>
          </a:xfrm>
          <a:prstGeom prst="roundRect">
            <a:avLst>
              <a:gd name="adj" fmla="val 10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73567" y="4937760"/>
            <a:ext cx="82296" cy="132588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5084064"/>
            <a:ext cx="30632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5614416"/>
            <a:ext cx="3063239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K-Means + Hierarchical agree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CLUSTERING  ·  FIVE DRIVER TIERS  · 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11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Elite and DNF are sharp; the midfield is a continuum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783080"/>
            <a:ext cx="4617720" cy="4480560"/>
          </a:xfrm>
          <a:prstGeom prst="roundRect">
            <a:avLst>
              <a:gd name="adj" fmla="val 4500"/>
            </a:avLst>
          </a:prstGeom>
          <a:solidFill>
            <a:srgbClr val="1C1C28"/>
          </a:solidFill>
          <a:ln w="12700">
            <a:solidFill>
              <a:srgbClr val="3A3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lu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2301377"/>
            <a:ext cx="4325112" cy="344396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6035040" cy="208483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Top-3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Grid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Agreement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 · Elite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~880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50%+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1–6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99–100%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 · Mid-A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~2,500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10–15%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7–13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~70%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2 · Mid-B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~2,000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5–10%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13–18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~70%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3 · Back-grid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~500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18–20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~75%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4 · DNF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~18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varies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99–100%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480560"/>
            <a:ext cx="603504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Elite status is reproducible.</a:t>
            </a:r>
            <a:r>
              <a:rPr sz="1350" b="0">
                <a:solidFill>
                  <a:srgbClr val="A6A6B4"/>
                </a:solidFill>
                <a:latin typeface="Arial"/>
              </a:rPr>
              <a:t>  Clusters 0 &amp; 4 are stable across methods — real, intrinsic groups.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10600"/>
                </a:solidFill>
                <a:latin typeface="Arial"/>
              </a:rPr>
              <a:t>▸ </a:t>
            </a:r>
            <a:r>
              <a:rPr sz="1350" b="1">
                <a:solidFill>
                  <a:srgbClr val="FFFFFF"/>
                </a:solidFill>
                <a:latin typeface="Arial"/>
              </a:rPr>
              <a:t>Midfield has no fixed type.</a:t>
            </a:r>
            <a:r>
              <a:rPr sz="1350" b="0">
                <a:solidFill>
                  <a:srgbClr val="A6A6B4"/>
                </a:solidFill>
                <a:latin typeface="Arial"/>
              </a:rPr>
              <a:t>  Soft boundaries: success is context-dependent, not strategy-defined.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12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Four findings from four lenses on the same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100584" cy="192024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1060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176272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Pit behavior is measurable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4436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6A6B4"/>
                </a:solidFill>
                <a:latin typeface="Arial"/>
              </a:rPr>
              <a:t>Gradient Boosting reaches R² = 0.93. Duration is crew-driven and improvable — not luck.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920240"/>
            <a:ext cx="100584" cy="1920240"/>
          </a:xfrm>
          <a:prstGeom prst="rect">
            <a:avLst/>
          </a:prstGeom>
          <a:solidFill>
            <a:srgbClr val="19C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12140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9C3B3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176272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Outcomes are grid-determined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94436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6A6B4"/>
                </a:solidFill>
                <a:latin typeface="Arial"/>
              </a:rPr>
              <a:t>F1 = 0.63 from grid + qualifying alone. Pit strategy refines, it doesn't decide.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690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69080"/>
            <a:ext cx="100584" cy="19202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2702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C14E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325112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Feature space is 4-D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09320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6A6B4"/>
                </a:solidFill>
                <a:latin typeface="Arial"/>
              </a:rPr>
              <a:t>PC1–PC4 hold 73% of variance with no dominant axis — the data won't compress.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0690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4069080"/>
            <a:ext cx="100584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2702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4325112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Driver tiers are real but fuzzy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509320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6A6B4"/>
                </a:solidFill>
                <a:latin typeface="Arial"/>
              </a:rPr>
              <a:t>Elite (880) is stable across methods; the 4,500-strong midfield is continuous.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146304" cy="146304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64224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600"/>
                </a:solidFill>
                <a:latin typeface="Arial"/>
              </a:rPr>
              <a:t>13</a:t>
            </a:r>
            <a:r>
              <a:rPr sz="1100" b="0">
                <a:solidFill>
                  <a:srgbClr val="787888"/>
                </a:solidFill>
                <a:latin typeface="Arial"/>
              </a:rPr>
              <a:t>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What the model can't yet see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82296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Temporal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70 years pool incomparable eras — pit tech went from ~45s to ~2s.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99232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999232"/>
            <a:ext cx="82296" cy="9144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1810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No in-race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56432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Static, pre-race features miss weather, tire wear, and safety cars.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7822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078224"/>
            <a:ext cx="82296" cy="9144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19709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No causal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35424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Grid predicts podiums — but a fast car may simply cause both.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57216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1F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157216"/>
            <a:ext cx="82296" cy="9144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2760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Confounded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1441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A6A6B4"/>
                </a:solidFill>
                <a:latin typeface="Arial"/>
              </a:rPr>
              <a:t>Budget, crew, equipment, and driver skill can't be separated.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0600"/>
                </a:solidFill>
                <a:latin typeface="Arial"/>
              </a:rPr>
              <a:t>PRIORITIZED NEXT STEPS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92240" y="2240280"/>
          <a:ext cx="5166360" cy="2304288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82296" marR="54864" marT="18288" marB="18288" anchor="ctr">
                    <a:solidFill>
                      <a:srgbClr val="E10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Era-stratified modeling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In-race telemetry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9E05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Causal framework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Team/driver effects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262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Context-aware midfield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82296" marR="54864" marT="18288" marB="18288" anchor="ctr">
                    <a:solidFill>
                      <a:srgbClr val="1F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10600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2588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Grid position is destiny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pit strategy is refinement.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607040" cy="18288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E10600"/>
                </a:solidFill>
                <a:latin typeface="Arial"/>
              </a:rPr>
              <a:t>▸ </a:t>
            </a:r>
            <a:r>
              <a:rPr sz="1450" b="1">
                <a:solidFill>
                  <a:srgbClr val="FFFFFF"/>
                </a:solidFill>
                <a:latin typeface="Arial"/>
              </a:rPr>
              <a:t>Pit duration is predictable.</a:t>
            </a:r>
            <a:r>
              <a:rPr sz="1450" b="0">
                <a:solidFill>
                  <a:srgbClr val="A6A6B4"/>
                </a:solidFill>
                <a:latin typeface="Arial"/>
              </a:rPr>
              <a:t>  R² = 0.93; team consistency dominates over circumstance.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E10600"/>
                </a:solidFill>
                <a:latin typeface="Arial"/>
              </a:rPr>
              <a:t>▸ </a:t>
            </a:r>
            <a:r>
              <a:rPr sz="1450" b="1">
                <a:solidFill>
                  <a:srgbClr val="FFFFFF"/>
                </a:solidFill>
                <a:latin typeface="Arial"/>
              </a:rPr>
              <a:t>Podiums are partly classifiable.</a:t>
            </a:r>
            <a:r>
              <a:rPr sz="1450" b="0">
                <a:solidFill>
                  <a:srgbClr val="A6A6B4"/>
                </a:solidFill>
                <a:latin typeface="Arial"/>
              </a:rPr>
              <a:t>  F1 = 0.63–0.70; pre-race position carries most of the signal.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E10600"/>
                </a:solidFill>
                <a:latin typeface="Arial"/>
              </a:rPr>
              <a:t>▸ </a:t>
            </a:r>
            <a:r>
              <a:rPr sz="1450" b="1">
                <a:solidFill>
                  <a:srgbClr val="FFFFFF"/>
                </a:solidFill>
                <a:latin typeface="Arial"/>
              </a:rPr>
              <a:t>The feature space is efficient.</a:t>
            </a:r>
            <a:r>
              <a:rPr sz="1450" b="0">
                <a:solidFill>
                  <a:srgbClr val="A6A6B4"/>
                </a:solidFill>
                <a:latin typeface="Arial"/>
              </a:rPr>
              <a:t>  Four PCA components capture 73% of all variance.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E10600"/>
                </a:solidFill>
                <a:latin typeface="Arial"/>
              </a:rPr>
              <a:t>▸ </a:t>
            </a:r>
            <a:r>
              <a:rPr sz="1450" b="1">
                <a:solidFill>
                  <a:srgbClr val="FFFFFF"/>
                </a:solidFill>
                <a:latin typeface="Arial"/>
              </a:rPr>
              <a:t>Driver tiers are real.</a:t>
            </a:r>
            <a:r>
              <a:rPr sz="1450" b="0">
                <a:solidFill>
                  <a:srgbClr val="A6A6B4"/>
                </a:solidFill>
                <a:latin typeface="Arial"/>
              </a:rPr>
              <a:t>  Elite teams are tight and reproducible; the midfield is diffuse.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A6A6B4"/>
                </a:solidFill>
                <a:latin typeface="Arial"/>
              </a:rPr>
              <a:t>Data informs strategy — but real-time judgment still wins races.</a:t>
            </a:r>
          </a:p>
        </p:txBody>
      </p:sp>
      <p:sp>
        <p:nvSpPr>
          <p:cNvPr id="101" name="StatBox1"/>
          <p:cNvSpPr>
            <a:spLocks noGrp="1"/>
          </p:cNvSpPr>
          <p:nvPr/>
        </p:nvSpPr>
        <p:spPr>
          <a:xfrm>
            <a:off x="822960" y="4800600"/>
            <a:ext cx="2286000" cy="11430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9050">
            <a:solidFill>
              <a:srgbClr val="E10600"/>
            </a:solidFill>
          </a:ln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E10600"/>
                </a:solidFill>
              </a:rPr>
              <a:t>R² 0.93</a:t>
            </a:r>
          </a:p>
          <a:p>
            <a:pPr algn="ctr"/>
            <a:r>
              <a:rPr lang="en-US" sz="1200" dirty="0">
                <a:solidFill>
                  <a:srgbClr val="9999AA"/>
                </a:solidFill>
              </a:rPr>
              <a:t>pit duration model</a:t>
            </a:r>
          </a:p>
        </p:txBody>
      </p:sp>
      <p:sp>
        <p:nvSpPr>
          <p:cNvPr id="102" name="StatBox2"/>
          <p:cNvSpPr>
            <a:spLocks noGrp="1"/>
          </p:cNvSpPr>
          <p:nvPr/>
        </p:nvSpPr>
        <p:spPr>
          <a:xfrm>
            <a:off x="3352560" y="4800600"/>
            <a:ext cx="2286000" cy="11430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9050">
            <a:solidFill>
              <a:srgbClr val="00A896"/>
            </a:solidFill>
          </a:ln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A896"/>
                </a:solidFill>
              </a:rPr>
              <a:t>F1 0.70</a:t>
            </a:r>
          </a:p>
          <a:p>
            <a:pPr algn="ctr"/>
            <a:r>
              <a:rPr lang="en-US" sz="1200" dirty="0">
                <a:solidFill>
                  <a:srgbClr val="9999AA"/>
                </a:solidFill>
              </a:rPr>
              <a:t>top-3 classification</a:t>
            </a:r>
          </a:p>
        </p:txBody>
      </p:sp>
      <p:sp>
        <p:nvSpPr>
          <p:cNvPr id="103" name="StatBox3"/>
          <p:cNvSpPr>
            <a:spLocks noGrp="1"/>
          </p:cNvSpPr>
          <p:nvPr/>
        </p:nvSpPr>
        <p:spPr>
          <a:xfrm>
            <a:off x="5882160" y="4800600"/>
            <a:ext cx="2286000" cy="11430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9050">
            <a:solidFill>
              <a:srgbClr val="F4A232"/>
            </a:solidFill>
          </a:ln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F4A232"/>
                </a:solidFill>
              </a:rPr>
              <a:t>K = 5</a:t>
            </a:r>
          </a:p>
          <a:p>
            <a:pPr algn="ctr"/>
            <a:r>
              <a:rPr lang="en-US" sz="1200" dirty="0">
                <a:solidFill>
                  <a:srgbClr val="9999AA"/>
                </a:solidFill>
              </a:rPr>
              <a:t>driver tiers</a:t>
            </a:r>
          </a:p>
        </p:txBody>
      </p:sp>
      <p:sp>
        <p:nvSpPr>
          <p:cNvPr id="104" name="StatBox4"/>
          <p:cNvSpPr>
            <a:spLocks noGrp="1"/>
          </p:cNvSpPr>
          <p:nvPr/>
        </p:nvSpPr>
        <p:spPr>
          <a:xfrm>
            <a:off x="8411760" y="4800600"/>
            <a:ext cx="2286000" cy="1143000"/>
          </a:xfrm>
          <a:prstGeom prst="roundRect">
            <a:avLst>
              <a:gd name="adj" fmla="val 5000"/>
            </a:avLst>
          </a:prstGeom>
          <a:solidFill>
            <a:srgbClr val="1C1C28"/>
          </a:solidFill>
          <a:ln w="19050">
            <a:solidFill>
              <a:srgbClr val="DDDDEE"/>
            </a:solidFill>
          </a:ln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DDDDEE"/>
                </a:solidFill>
              </a:rPr>
              <a:t>4 PCs</a:t>
            </a:r>
          </a:p>
          <a:p>
            <a:pPr algn="ctr"/>
            <a:r>
              <a:rPr lang="en-US" sz="1200" dirty="0">
                <a:solidFill>
                  <a:srgbClr val="9999AA"/>
                </a:solidFill>
              </a:rPr>
              <a:t>capture 73% variance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1262</Words>
  <Application>Microsoft Macintosh PowerPoint</Application>
  <PresentationFormat>Widescreen</PresentationFormat>
  <Paragraphs>285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 Kumaar Aruljothi</cp:lastModifiedBy>
  <cp:revision>3</cp:revision>
  <dcterms:created xsi:type="dcterms:W3CDTF">2013-01-27T09:14:16Z</dcterms:created>
  <dcterms:modified xsi:type="dcterms:W3CDTF">2026-06-09T01:43:49Z</dcterms:modified>
  <cp:category/>
</cp:coreProperties>
</file>